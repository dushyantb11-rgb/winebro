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0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WINEBRO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200" b="1" i="0">
                <a:solidFill>
                  <a:srgbClr val="FAEFD8"/>
                </a:solidFill>
                <a:latin typeface="Playfair Display"/>
              </a:rPr>
              <a:t>Your Bro for
every bottle.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1">
                <a:solidFill>
                  <a:srgbClr val="FAEFD8"/>
                </a:solidFill>
                <a:latin typeface="Playfair Display"/>
              </a:rPr>
              <a:t>India's first homegrown wine, spirits and beer pairing app — built for biryani, not Bordeaux.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12064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D9A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ctr"/>
            <a:r>
              <a:rPr b="1" sz="1000">
                <a:solidFill>
                  <a:srgbClr val="252122"/>
                </a:solidFill>
                <a:latin typeface="Montserrat"/>
              </a:rPr>
              <a:t>v1.1 LAUNCHING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512064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47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ctr"/>
            <a:r>
              <a:rPr b="1" sz="1000">
                <a:solidFill>
                  <a:srgbClr val="FAEFD8"/>
                </a:solidFill>
                <a:latin typeface="Montserrat"/>
              </a:rPr>
              <a:t>INDIAN-FIRST PAIRING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512064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47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ctr"/>
            <a:r>
              <a:rPr b="1" sz="1000">
                <a:solidFill>
                  <a:srgbClr val="FAEFD8"/>
                </a:solidFill>
                <a:latin typeface="Montserrat"/>
              </a:rPr>
              <a:t>55 SKUs · 66 DISHES · 158 AROMAS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WINEBRO · BRAND &amp; INVESTOR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E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D9A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93003C"/>
                </a:solidFill>
                <a:latin typeface="Montserrat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252122"/>
                </a:solidFill>
                <a:latin typeface="Playfair Display"/>
              </a:rPr>
              <a:t>Western wine apps don't know our food.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252122"/>
                </a:solidFill>
                <a:latin typeface="Montserrat"/>
              </a:rPr>
              <a:t>Open Vivino. Search "what wine pairs with biryani." Get blank stare.
Search "Mirchi ka Salan." Get nothing.
Search "Macher Jhol." Get the same Australian Shiraz they recommend for everything.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93003C"/>
                </a:solidFill>
                <a:latin typeface="Montserrat"/>
              </a:rPr>
              <a:t>India's wine market is going to 4× by 2030. Not one app is built for our palate.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52122"/>
                </a:solidFill>
                <a:latin typeface="Montserrat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252122"/>
                </a:solidFill>
                <a:latin typeface="Montserrat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THE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FAEFD8"/>
                </a:solidFill>
                <a:latin typeface="Playfair Display"/>
              </a:rPr>
              <a:t>The numbers nobody is serving.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200" b="1" i="0">
                <a:solidFill>
                  <a:srgbClr val="D9A23A"/>
                </a:solidFill>
                <a:latin typeface="Playfair Display"/>
              </a:rPr>
              <a:t>₹14k 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INDIAN WINE MARKET BY 2030 (4× FROM TODAY)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46888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200" b="1" i="0">
                <a:solidFill>
                  <a:srgbClr val="D14B7A"/>
                </a:solidFill>
                <a:latin typeface="Playfair Display"/>
              </a:rPr>
              <a:t>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57200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ANNUAL ALCOBEV GROWTH, INDIA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46888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200" b="1" i="0">
                <a:solidFill>
                  <a:srgbClr val="1FBA68"/>
                </a:solidFill>
                <a:latin typeface="Playfair Display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57200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APPS BUILT FOR THE INDIAN PALATE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FAEFD8"/>
                </a:solidFill>
                <a:latin typeface="Playfair Display"/>
              </a:rPr>
              <a:t>Indian consumers under-buy wine because they don't know what to drink with their food. WineBro removes that friction.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THE 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AEFD8"/>
                </a:solidFill>
                <a:latin typeface="Playfair Display"/>
              </a:rPr>
              <a:t>A pocket sommelier — built for India.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471028"/>
          </a:solidFill>
          <a:ln w="6350">
            <a:solidFill>
              <a:srgbClr val="FA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FAEFD8"/>
                </a:solidFill>
                <a:latin typeface="Montserrat"/>
              </a:rPr>
              <a:t>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EFD8"/>
                </a:solidFill>
                <a:latin typeface="Playfair Display"/>
              </a:rPr>
              <a:t>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Snap any bottle. Get tasting notes, pairings, where to buy.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65176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471028"/>
          </a:solidFill>
          <a:ln w="6350">
            <a:solidFill>
              <a:srgbClr val="FA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7889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FAEFD8"/>
                </a:solidFill>
                <a:latin typeface="Montserrat"/>
              </a:rPr>
              <a:t>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4290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EFD8"/>
                </a:solidFill>
                <a:latin typeface="Playfair Display"/>
              </a:rPr>
              <a:t>Pair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8862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Search any dish. Bro ranks 55 bottles by match 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265176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471028"/>
          </a:solidFill>
          <a:ln w="6350">
            <a:solidFill>
              <a:srgbClr val="FA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79" y="27889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FAEFD8"/>
                </a:solidFill>
                <a:latin typeface="Montserrat"/>
              </a:rPr>
              <a:t>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79" y="34290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EFD8"/>
                </a:solidFill>
                <a:latin typeface="Playfair Display"/>
              </a:rPr>
              <a:t>Journal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38862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Quick-log in 15 seconds. Or full-sommelier with photos + voice.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399" y="265176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471028"/>
          </a:solidFill>
          <a:ln w="6350">
            <a:solidFill>
              <a:srgbClr val="FA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27889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FAEFD8"/>
                </a:solidFill>
                <a:latin typeface="Montserrat"/>
              </a:rPr>
              <a:t>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34290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EFD8"/>
                </a:solidFill>
                <a:latin typeface="Playfair Display"/>
              </a:rPr>
              <a:t>Bro Circle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38862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What your friends are pouring. Real signals, not algorithms.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86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FAEFD8"/>
                </a:solidFill>
                <a:latin typeface="Playfair Display"/>
              </a:rPr>
              <a:t>Free. No subscription wall. Revenue from affiliate, premium tier, brand B2B.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THE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D9A23A"/>
                </a:solidFill>
                <a:latin typeface="Montserrat"/>
              </a:rP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AEFD8"/>
                </a:solidFill>
                <a:latin typeface="Playfair Display"/>
              </a:rPr>
              <a:t>Every Indian region is first-class.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FAEFD8"/>
                </a:solidFill>
                <a:latin typeface="Playfair Display"/>
              </a:rPr>
              <a:t>Bengali. Kashmiri. Hyderabadi. Goan. Rajasthani. Chettinad. Udupi. North Indian. South Indian. Coastal seafood.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576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5D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AEFD8"/>
                </a:solidFill>
                <a:latin typeface="Playfair Display"/>
              </a:rPr>
              <a:t>GROVER ZAMPA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36576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0E8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AEFD8"/>
                </a:solidFill>
                <a:latin typeface="Playfair Display"/>
              </a:rPr>
              <a:t>SULA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36576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6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AEFD8"/>
                </a:solidFill>
                <a:latin typeface="Playfair Display"/>
              </a:rPr>
              <a:t>FRATELLI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6576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D9A23A"/>
                </a:solidFill>
                <a:latin typeface="Playfair Display"/>
              </a:rPr>
              <a:t>KRSMA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6576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4D5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AEFD8"/>
                </a:solidFill>
                <a:latin typeface="Playfair Display"/>
              </a:rPr>
              <a:t>CHAROSA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0" y="36576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2E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AEFD8"/>
                </a:solidFill>
                <a:latin typeface="Playfair Display"/>
              </a:rPr>
              <a:t>BIG BANYAN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434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AEFD8"/>
                </a:solidFill>
                <a:latin typeface="Playfair Display"/>
              </a:rPr>
              <a:t>AMRUT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40" y="43434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13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AEFD8"/>
                </a:solidFill>
                <a:latin typeface="Playfair Display"/>
              </a:rPr>
              <a:t>PAUL JOHN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43434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2A1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C9A14B"/>
                </a:solidFill>
                <a:latin typeface="Playfair Display"/>
              </a:rPr>
              <a:t>RAMPUR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3434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3E24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D9A23A"/>
                </a:solidFill>
                <a:latin typeface="Playfair Display"/>
              </a:rPr>
              <a:t>OLD MONK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43434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E8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AEFD8"/>
                </a:solidFill>
                <a:latin typeface="Playfair Display"/>
              </a:rPr>
              <a:t>BIRA 91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4343400"/>
            <a:ext cx="1691640" cy="502920"/>
          </a:xfrm>
          <a:prstGeom prst="roundRect">
            <a:avLst>
              <a:gd name="adj" fmla="val 18000"/>
            </a:avLst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AEFD8"/>
                </a:solidFill>
                <a:latin typeface="Playfair Display"/>
              </a:rPr>
              <a:t>KINGFISHER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77840"/>
            <a:ext cx="11430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i="0">
                <a:solidFill>
                  <a:srgbClr val="FAEFD8"/>
                </a:solidFill>
                <a:latin typeface="Montserrat"/>
              </a:rPr>
              <a:t>12 Indian brands. 55 SKUs. ₹450 Old Monk to ₹15,000 Penfolds. Every price tier. Every regional drinker seen.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D9A23A"/>
                </a:solidFill>
                <a:latin typeface="Montserrat"/>
              </a:rPr>
              <a:t>CULTURAL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AEFD8"/>
                </a:solidFill>
                <a:latin typeface="Playfair Display"/>
              </a:rPr>
              <a:t>Aam. Jamun. Imli. Tandoor.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1">
                <a:solidFill>
                  <a:srgbClr val="FAEFD8"/>
                </a:solidFill>
                <a:latin typeface="Playfair Display"/>
              </a:rPr>
              <a:t>158 aromas. 26 are India-only — and that's the moat. Western apps will never match this without a 24-month catch-up.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9A23A"/>
                </a:solidFill>
                <a:latin typeface="Playfair Display"/>
              </a:rPr>
              <a:t>Fruity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Aam (Mango)
Jamun (Indian blackberry)
Munakka
Nimbu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931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9A23A"/>
                </a:solidFill>
                <a:latin typeface="Playfair Display"/>
              </a:rPr>
              <a:t>Spice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57200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Elaichi (Cardamom)
Hing (Asafoetida)
Saffron (Kesar)
Mace (Javitri)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931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9A23A"/>
                </a:solidFill>
                <a:latin typeface="Playfair Display"/>
              </a:rPr>
              <a:t>Smoke &amp; Earth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57200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Tandoor smoke
Agarbatti (Incense)
Kokum
Imli (Tamarind)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CULTURAL MOAT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DEFENSIBILITY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AEFD8"/>
                </a:solidFill>
                <a:latin typeface="Playfair Display"/>
              </a:rPr>
              <a:t>10 proprietary data assets — collecting from day 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D9A23A"/>
                </a:solidFill>
                <a:latin typeface="Montserrat"/>
              </a:rPr>
              <a:t>ASSET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D9A23A"/>
                </a:solidFill>
                <a:latin typeface="Montserrat"/>
              </a:rPr>
              <a:t>WHAT WE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286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D9A23A"/>
                </a:solidFill>
                <a:latin typeface="Montserrat"/>
              </a:rPr>
              <a:t>YEAR-1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AEFD8"/>
                </a:solidFill>
                <a:latin typeface="Montserrat"/>
              </a:rPr>
              <a:t>D1  Pairing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7432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Indian-dish ↔ bottle pairings logged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27432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>
                <a:solidFill>
                  <a:srgbClr val="D9A23A"/>
                </a:solidFill>
                <a:latin typeface="Playfair Display"/>
              </a:rPr>
              <a:t>50,000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AEFD8"/>
                </a:solidFill>
                <a:latin typeface="Montserrat"/>
              </a:rPr>
              <a:t>D3  Indian-context aroma vocabulary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2461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Vernacular aroma terms users actually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2461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>
                <a:solidFill>
                  <a:srgbClr val="D9A23A"/>
                </a:solidFill>
                <a:latin typeface="Playfair Display"/>
              </a:rPr>
              <a:t>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39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AEFD8"/>
                </a:solidFill>
                <a:latin typeface="Montserrat"/>
              </a:rPr>
              <a:t>D5  Cross-category preference 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749039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Wine drinkers who also drink whisky/beer/cocktails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3749039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>
                <a:solidFill>
                  <a:srgbClr val="D9A23A"/>
                </a:solidFill>
                <a:latin typeface="Playfair Display"/>
              </a:rPr>
              <a:t>5,000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519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AEFD8"/>
                </a:solidFill>
                <a:latin typeface="Montserrat"/>
              </a:rPr>
              <a:t>D6  Pairing success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251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"Did Bro get it right?" Yes/Maybe/No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42519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>
                <a:solidFill>
                  <a:srgbClr val="D9A23A"/>
                </a:solidFill>
                <a:latin typeface="Playfair Display"/>
              </a:rPr>
              <a:t>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AEFD8"/>
                </a:solidFill>
                <a:latin typeface="Montserrat"/>
              </a:rPr>
              <a:t>D7  Restock behaviour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7548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Repeat purchase intent signal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>
                <a:solidFill>
                  <a:srgbClr val="D9A23A"/>
                </a:solidFill>
                <a:latin typeface="Playfair Display"/>
              </a:rPr>
              <a:t>1,000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AEFD8"/>
                </a:solidFill>
                <a:latin typeface="Montserrat"/>
              </a:rPr>
              <a:t>D10  Occasion-context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2578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Home vs restaurant vs bar consumption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52578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>
                <a:solidFill>
                  <a:srgbClr val="D9A23A"/>
                </a:solidFill>
                <a:latin typeface="Playfair Display"/>
              </a:rPr>
              <a:t>3,000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989320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FAEFD8"/>
                </a:solidFill>
                <a:latin typeface="Playfair Display"/>
              </a:rPr>
              <a:t>Every BroCard saved adds a row. Every pairing rated tunes the engine. Every aroma calibration extends the moat.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DEFENSIBILITY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FBA68"/>
                </a:solidFill>
                <a:latin typeface="Montserrat"/>
              </a:rPr>
              <a:t>BUILT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AEFD8"/>
                </a:solidFill>
                <a:latin typeface="Playfair Display"/>
              </a:rPr>
              <a:t>Production-shipping. Not a prototype.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•  36 PRs merged in 8 production sprints, all per-PR-gated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•  99/99 unit tests passing — pairing engine, gamification, wrap-up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661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•  11 Cloud Functions live (push, recommendations, community signals)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•  Pairing engine v1.1 — Bayesian-shrunk community feedback consumption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•  Flutter (iOS + Android, single codebase)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2608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•  Firebase asia-south1 — Firestore, FCM, Storage, Cloud Functions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661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•  SHA-256 phone-hash friend discovery — privacy-first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AEFD8"/>
                </a:solidFill>
                <a:latin typeface="Montserrat"/>
              </a:rPr>
              <a:t>•  21+ age gate, owner-only journal reads, AA-compliant theme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FAEFD8"/>
                </a:solidFill>
                <a:latin typeface="Playfair Display"/>
              </a:rPr>
              <a:t>Release APK 29-35 MB. 99-test unit suite. Zero post-merge regressions across 8 sprints.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BUILT 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2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MONETISATION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AEFD8"/>
                </a:solidFill>
                <a:latin typeface="Playfair Display"/>
              </a:rPr>
              <a:t>Three horizons. One product.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657600" cy="3291840"/>
          </a:xfrm>
          <a:prstGeom prst="roundRect">
            <a:avLst>
              <a:gd name="adj" fmla="val 5000"/>
            </a:avLst>
          </a:prstGeom>
          <a:solidFill>
            <a:srgbClr val="0A1810"/>
          </a:solidFill>
          <a:ln w="6350">
            <a:solidFill>
              <a:srgbClr val="1FB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FB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ctr"/>
            <a:r>
              <a:rPr b="1" sz="1000">
                <a:solidFill>
                  <a:srgbClr val="252122"/>
                </a:solidFill>
                <a:latin typeface="Montserrat"/>
              </a:rPr>
              <a:t>M1 — M6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AEFD8"/>
                </a:solidFill>
                <a:latin typeface="Playfair Display"/>
              </a:rPr>
              <a:t>Affiliate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Every "Buy" tap routes through Flipkart / BigBasket / Amazon partner links. ₹50–150 per conversion. Live now.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657600" cy="3291840"/>
          </a:xfrm>
          <a:prstGeom prst="roundRect">
            <a:avLst>
              <a:gd name="adj" fmla="val 5000"/>
            </a:avLst>
          </a:prstGeom>
          <a:solidFill>
            <a:srgbClr val="0A1810"/>
          </a:solidFill>
          <a:ln w="6350">
            <a:solidFill>
              <a:srgbClr val="1FB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17720" y="2468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FB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ctr"/>
            <a:r>
              <a:rPr b="1" sz="1000">
                <a:solidFill>
                  <a:srgbClr val="252122"/>
                </a:solidFill>
                <a:latin typeface="Montserrat"/>
              </a:rPr>
              <a:t>M6 — M12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20040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AEFD8"/>
                </a:solidFill>
                <a:latin typeface="Playfair Display"/>
              </a:rPr>
              <a:t>Premium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840480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Razorpay subscription. AI sommelier chat, advanced engine, no banners. ₹199/mo or ₹1,499/yr.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286000"/>
            <a:ext cx="3657600" cy="3291840"/>
          </a:xfrm>
          <a:prstGeom prst="roundRect">
            <a:avLst>
              <a:gd name="adj" fmla="val 5000"/>
            </a:avLst>
          </a:prstGeom>
          <a:solidFill>
            <a:srgbClr val="0A1810"/>
          </a:solidFill>
          <a:ln w="6350">
            <a:solidFill>
              <a:srgbClr val="1FB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58200" y="2468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FB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ctr"/>
            <a:r>
              <a:rPr b="1" sz="1000">
                <a:solidFill>
                  <a:srgbClr val="252122"/>
                </a:solidFill>
                <a:latin typeface="Montserrat"/>
              </a:rPr>
              <a:t>M12+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20040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AEFD8"/>
                </a:solidFill>
                <a:latin typeface="Playfair Display"/>
              </a:rPr>
              <a:t>B2B brand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840480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Sula, Grover, Amrut, Bira pay for cohort intel + featured surfacing. ₹50K–2L/quarter per partner.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FAEFD8"/>
                </a:solidFill>
                <a:latin typeface="Playfair Display"/>
              </a:rPr>
              <a:t>Free to use. Three revenue lines unlocked at different scale tiers. No paywall friction at acquisition.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MONETISATION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9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252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89497" y="1371600"/>
            <a:ext cx="12700" cy="4114800"/>
          </a:xfrm>
          <a:prstGeom prst="rect">
            <a:avLst/>
          </a:prstGeom>
          <a:solidFill>
            <a:srgbClr val="D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BRAND PARTNER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AEFD8"/>
                </a:solidFill>
                <a:latin typeface="Playfair Display"/>
              </a:rPr>
              <a:t>No money.
Just 30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Soft cross-promotion on your channels. We give you featured surfacing, push broadcasts on new releases, and a quarterly anonymized cohort report.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•  One Instagram post or newsletter mention per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578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•  Optional 30-min tasting-team call to refine pairing bias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•  Optional co-branded D2C landing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5486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INVESTOR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1005840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AEFD8"/>
                </a:solidFill>
                <a:latin typeface="Playfair Display"/>
              </a:rPr>
              <a:t>₹50L.
18 months.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329184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AEFD8"/>
                </a:solidFill>
                <a:latin typeface="Montserrat"/>
              </a:rPr>
              <a:t>Pre-seed runway to 50K MAU + first paid tier launch. Capital deployed against: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48463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•  Photography pipeline (₹5L) — 40 bottle + 60 dish hero photos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487" y="52578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•  BD lead (₹15L/yr) — brand partnerships, influencer seeding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487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•  Performance marketing (₹20L) — Meta + Google, Tier-1 metro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487" y="60807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AEFD8"/>
                </a:solidFill>
                <a:latin typeface="Montserrat"/>
              </a:rPr>
              <a:t>•  Premium tier engineering + AI sommelier (founder-driven)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TWO ASKS · ONE 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E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D9A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93003C"/>
                </a:solidFill>
                <a:latin typeface="Montserrat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52122"/>
                </a:solidFill>
                <a:latin typeface="Playfair Display"/>
              </a:rPr>
              <a:t>India is finally drinking wine.
We are the answer to "but what?"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06240"/>
            <a:ext cx="45720" cy="1828800"/>
          </a:xfrm>
          <a:prstGeom prst="rect">
            <a:avLst/>
          </a:prstGeom>
          <a:solidFill>
            <a:srgbClr val="D9A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0624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1">
                <a:solidFill>
                  <a:srgbClr val="252122"/>
                </a:solidFill>
                <a:latin typeface="Playfair Display"/>
              </a:rPr>
              <a:t>Indian wine consumption tripled in the last decade. Tier-1 metros lead, but Tier-2 cities are growing faster. The bottleneck for every new drinker is the same: they don't know what to buy or what to drink it with. WineBro is the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52122"/>
                </a:solidFill>
                <a:latin typeface="Montserrat"/>
              </a:rPr>
              <a:t>WHY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252122"/>
                </a:solidFill>
                <a:latin typeface="Montserrat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0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AEFD8"/>
                </a:solidFill>
                <a:latin typeface="Montserrat"/>
              </a:rPr>
              <a:t>LET'S POUR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200" b="1" i="0">
                <a:solidFill>
                  <a:srgbClr val="FAEFD8"/>
                </a:solidFill>
                <a:latin typeface="Playfair Display"/>
              </a:rPr>
              <a:t>Your Bro for
every bottle.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FAEFD8"/>
                </a:solidFill>
                <a:latin typeface="Playfair Display"/>
              </a:rPr>
              <a:t>India's first homegrown wine pairing app — built for biryani, not Bordeaux.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AEFD8"/>
                </a:solidFill>
                <a:latin typeface="Montserrat"/>
              </a:rPr>
              <a:t>App ·  winebro.web.app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66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AEFD8"/>
                </a:solidFill>
                <a:latin typeface="Montserrat"/>
              </a:rPr>
              <a:t>BD + investor ·  [your email]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778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AEFD8"/>
                </a:solidFill>
                <a:latin typeface="Montserrat"/>
              </a:rPr>
              <a:t>Phone ·  [your number]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DRINK RESPONSIBLY · 21+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AEFD8"/>
                </a:solidFill>
                <a:latin typeface="Montserrat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