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WINEBRO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200" b="1" i="0">
                <a:solidFill>
                  <a:srgbClr val="FAEFD8"/>
                </a:solidFill>
                <a:latin typeface="Playfair Display"/>
              </a:rPr>
              <a:t>Your Bro for
every bottle.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FAEFD8"/>
                </a:solidFill>
                <a:latin typeface="Playfair Display"/>
              </a:rPr>
              <a:t>India's first homegrown wine, spirits and beer pairing app — built for biryani, not Bordeaux.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206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9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/>
            <a:r>
              <a:rPr b="1" sz="1000">
                <a:solidFill>
                  <a:srgbClr val="252122"/>
                </a:solidFill>
                <a:latin typeface="Montserrat"/>
              </a:rPr>
              <a:t>v1.1 LAUNCHING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1206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4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/>
            <a:r>
              <a:rPr b="1" sz="1000">
                <a:solidFill>
                  <a:srgbClr val="FAEFD8"/>
                </a:solidFill>
                <a:latin typeface="Montserrat"/>
              </a:rPr>
              <a:t>INDIAN-FIRST PAIRING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51206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4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/>
            <a:r>
              <a:rPr b="1" sz="1000">
                <a:solidFill>
                  <a:srgbClr val="FAEFD8"/>
                </a:solidFill>
                <a:latin typeface="Montserrat"/>
              </a:rPr>
              <a:t>55 SKUs · 66 DISHES · 158 AROMAS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WINEBRO · BRAND &amp; INVESTOR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D9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93003C"/>
                </a:solidFill>
                <a:latin typeface="Montserrat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252122"/>
                </a:solidFill>
                <a:latin typeface="Playfair Display"/>
              </a:rPr>
              <a:t>Western wine apps don't know our food.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252122"/>
                </a:solidFill>
                <a:latin typeface="Montserrat"/>
              </a:rPr>
              <a:t>Open Vivino. Search "what wine pairs with biryani." Get blank stare.
Search "Mirchi ka Salan." Get nothing.
Search "Macher Jhol." Get the same Australian Shiraz they recommend for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 i="0">
                <a:solidFill>
                  <a:srgbClr val="93003C"/>
                </a:solidFill>
                <a:latin typeface="Montserrat"/>
              </a:rPr>
              <a:t>India's wine market is going to 4× by 2030. Not one app is built for our palate.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2122"/>
                </a:solidFill>
                <a:latin typeface="Montserrat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2122"/>
                </a:solidFill>
                <a:latin typeface="Montserrat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AEFD8"/>
                </a:solidFill>
                <a:latin typeface="Playfair Display"/>
              </a:rPr>
              <a:t>The numbers nobody is 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200" b="1" i="0">
                <a:solidFill>
                  <a:srgbClr val="D9A23A"/>
                </a:solidFill>
                <a:latin typeface="Playfair Display"/>
              </a:rPr>
              <a:t>₹14k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INDIAN WINE MARKET BY 2030 (4× FROM 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46888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200" b="1" i="0">
                <a:solidFill>
                  <a:srgbClr val="D14B7A"/>
                </a:solidFill>
                <a:latin typeface="Playfair Display"/>
              </a:rPr>
              <a:t>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572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ANNUAL ALCOBEV GROWTH,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6888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200" b="1" i="0">
                <a:solidFill>
                  <a:srgbClr val="1FBA68"/>
                </a:solidFill>
                <a:latin typeface="Playfair Display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572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APPS BUILT FOR THE INDIAN PALATE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AEFD8"/>
                </a:solidFill>
                <a:latin typeface="Playfair Display"/>
              </a:rPr>
              <a:t>Indian consumers under-buy wine because they don't know what to drink with their food. WineBro removes that friction.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THE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3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AEFD8"/>
                </a:solidFill>
                <a:latin typeface="Playfair Display"/>
              </a:rPr>
              <a:t>A pocket sommelier — built for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471028"/>
          </a:solidFill>
          <a:ln w="6350">
            <a:solidFill>
              <a:srgbClr val="FA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FAEFD8"/>
                </a:solidFill>
                <a:latin typeface="Montserrat"/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EFD8"/>
                </a:solidFill>
                <a:latin typeface="Playfair Display"/>
              </a:rP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Snap any bottle. Get tasting notes, pairings, where to buy.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6517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471028"/>
          </a:solidFill>
          <a:ln w="6350">
            <a:solidFill>
              <a:srgbClr val="FA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7889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FAEFD8"/>
                </a:solidFill>
                <a:latin typeface="Montserrat"/>
              </a:rPr>
              <a:t>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EFD8"/>
                </a:solidFill>
                <a:latin typeface="Playfair Display"/>
              </a:rPr>
              <a:t>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862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Search any dish. Bro ranks 55 bottles by match 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26517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471028"/>
          </a:solidFill>
          <a:ln w="6350">
            <a:solidFill>
              <a:srgbClr val="FA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7889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FAEFD8"/>
                </a:solidFill>
                <a:latin typeface="Montserrat"/>
              </a:rPr>
              <a:t>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3429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EFD8"/>
                </a:solidFill>
                <a:latin typeface="Playfair Display"/>
              </a:rPr>
              <a:t>Journal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38862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Quick-log in 15 seconds. Or full-sommelier with photos + voice.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26517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471028"/>
          </a:solidFill>
          <a:ln w="6350">
            <a:solidFill>
              <a:srgbClr val="FA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27889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FAEFD8"/>
                </a:solidFill>
                <a:latin typeface="Montserrat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3429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EFD8"/>
                </a:solidFill>
                <a:latin typeface="Playfair Display"/>
              </a:rPr>
              <a:t>Bro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38862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What your friends are pouring. Real signals, not algorithms.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AEFD8"/>
                </a:solidFill>
                <a:latin typeface="Playfair Display"/>
              </a:rPr>
              <a:t>Free. No subscription wall. Revenue from affiliate, premium tier, brand B2B.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THE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9A23A"/>
                </a:solidFill>
                <a:latin typeface="Montserrat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AEFD8"/>
                </a:solidFill>
                <a:latin typeface="Playfair Display"/>
              </a:rPr>
              <a:t>Every Indian region is first-class.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AEFD8"/>
                </a:solidFill>
                <a:latin typeface="Playfair Display"/>
              </a:rPr>
              <a:t>Bengali. Kashmiri. Hyderabadi. Goan. Rajasthani. Chettinad. Udupi. North Indian. South Indian. Coastal seafood.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5D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GROVER ZAMPA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36576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0E8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SULA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6576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6E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FRATELLI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6576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D9A23A"/>
                </a:solidFill>
                <a:latin typeface="Playfair Display"/>
              </a:rPr>
              <a:t>KRSMA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6576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4D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CHAROSA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36576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2E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BIG BANYAN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AMRUT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43434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PAUL JOHN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3434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2A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C9A14B"/>
                </a:solidFill>
                <a:latin typeface="Playfair Display"/>
              </a:rPr>
              <a:t>RAMPUR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3434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3E2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D9A23A"/>
                </a:solidFill>
                <a:latin typeface="Playfair Display"/>
              </a:rPr>
              <a:t>OLD MONK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3434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E8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BIRA 91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4343400"/>
            <a:ext cx="1691640" cy="502920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AEFD8"/>
                </a:solidFill>
                <a:latin typeface="Playfair Display"/>
              </a:rPr>
              <a:t>KINGFISHER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1430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FAEFD8"/>
                </a:solidFill>
                <a:latin typeface="Montserrat"/>
              </a:rPr>
              <a:t>12 Indian brands. 55 SKUs. ₹450 Old Monk to ₹15,000 Penfolds. Every price tier. Every regional drinker seen.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9A23A"/>
                </a:solidFill>
                <a:latin typeface="Montserrat"/>
              </a:rPr>
              <a:t>CULTURAL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AEFD8"/>
                </a:solidFill>
                <a:latin typeface="Playfair Display"/>
              </a:rPr>
              <a:t>Aam. Jamun. Imli. Tandoor.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1">
                <a:solidFill>
                  <a:srgbClr val="FAEFD8"/>
                </a:solidFill>
                <a:latin typeface="Playfair Display"/>
              </a:rPr>
              <a:t>158 aromas. 26 are India-only — and that's the moat. Western apps will never match this without a 24-month catch-up.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Fruity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Aam (Mango)
Jamun (Indian blackberry)
Munakka
Nimbu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Spice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57200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Elaichi (Cardamom)
Hing (Asafoetida)
Saffron (Kesar)
Mace (Javitri)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Smoke &amp; Earth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57200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Tandoor smoke
Agarbatti (Incense)
Kokum
Imli (Tamarind)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CULTURAL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AEFD8"/>
                </a:solidFill>
                <a:latin typeface="Playfair Display"/>
              </a:rPr>
              <a:t>10 proprietary data assets — collecting from day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9A23A"/>
                </a:solidFill>
                <a:latin typeface="Montserrat"/>
              </a:rPr>
              <a:t>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9A23A"/>
                </a:solidFill>
                <a:latin typeface="Montserrat"/>
              </a:rPr>
              <a:t>WHAT WE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D9A23A"/>
                </a:solidFill>
                <a:latin typeface="Montserrat"/>
              </a:rPr>
              <a:t>YEAR-1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AEFD8"/>
                </a:solidFill>
                <a:latin typeface="Montserrat"/>
              </a:rPr>
              <a:t>D1  Pairing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Indian-dish ↔ bottle pairings logged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AEFD8"/>
                </a:solidFill>
                <a:latin typeface="Montserrat"/>
              </a:rPr>
              <a:t>D3  Indian-context aroma vocabulary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461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Vernacular aroma terms users actually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AEFD8"/>
                </a:solidFill>
                <a:latin typeface="Montserrat"/>
              </a:rPr>
              <a:t>D5  Cross-category preference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39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Wine drinkers who also drink whisky/beer/cocktails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749039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AEFD8"/>
                </a:solidFill>
                <a:latin typeface="Montserrat"/>
              </a:rPr>
              <a:t>D6  Pairing success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251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"Did Bro get it right?" Yes/Maybe/No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51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AEFD8"/>
                </a:solidFill>
                <a:latin typeface="Montserrat"/>
              </a:rPr>
              <a:t>D7  Restock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754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Repeat purchase intent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754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1,000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AEFD8"/>
                </a:solidFill>
                <a:latin typeface="Montserrat"/>
              </a:rPr>
              <a:t>D10  Occasion-context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257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Home vs restaurant vs bar consumption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257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A23A"/>
                </a:solidFill>
                <a:latin typeface="Playfair Display"/>
              </a:rPr>
              <a:t>3,000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FAEFD8"/>
                </a:solidFill>
                <a:latin typeface="Playfair Display"/>
              </a:rPr>
              <a:t>Every BroCard saved adds a row. Every pairing rated tunes the engine. Every aroma calibration extends the moat.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DEFENSIBILITY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FBA68"/>
                </a:solidFill>
                <a:latin typeface="Montserrat"/>
              </a:rPr>
              <a:t>BUILT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AEFD8"/>
                </a:solidFill>
                <a:latin typeface="Playfair Display"/>
              </a:rPr>
              <a:t>Production-shipping. Not a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•  36 PRs merged in 8 production sprints, all per-PR-gated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•  99/99 unit tests passing — pairing engine, gamification, 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•  11 Cloud Functions live (push, recommendations, community signals)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•  Pairing engine v1.1 — Bayesian-shrunk community feedback consumption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•  Flutter (iOS + Android, single codebase)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•  Firebase asia-south1 — Firestore, FCM, Storage, Cloud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•  SHA-256 phone-hash friend discovery — privacy-first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EFD8"/>
                </a:solidFill>
                <a:latin typeface="Montserrat"/>
              </a:rPr>
              <a:t>•  21+ age gate, owner-only journal reads, AA-compliant theme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FAEFD8"/>
                </a:solidFill>
                <a:latin typeface="Playfair Display"/>
              </a:rPr>
              <a:t>Release APK 29-35 MB. 99-test unit suite. Zero post-merge regressions across 8 sprints.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BUILT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MONETISATION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AEFD8"/>
                </a:solidFill>
                <a:latin typeface="Playfair Display"/>
              </a:rPr>
              <a:t>Three horizons. One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0A1810"/>
          </a:solidFill>
          <a:ln w="6350">
            <a:solidFill>
              <a:srgbClr val="1FB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FB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/>
            <a:r>
              <a:rPr b="1" sz="1000">
                <a:solidFill>
                  <a:srgbClr val="252122"/>
                </a:solidFill>
                <a:latin typeface="Montserrat"/>
              </a:rPr>
              <a:t>M1 — 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AEFD8"/>
                </a:solidFill>
                <a:latin typeface="Playfair Display"/>
              </a:rPr>
              <a:t>Affiliate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Every "Buy" tap routes through Flipkart / BigBasket / Amazon partner links. ₹50–150 per conversion. Live now.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0A1810"/>
          </a:solidFill>
          <a:ln w="6350">
            <a:solidFill>
              <a:srgbClr val="1FB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4688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FB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/>
            <a:r>
              <a:rPr b="1" sz="1000">
                <a:solidFill>
                  <a:srgbClr val="252122"/>
                </a:solidFill>
                <a:latin typeface="Montserrat"/>
              </a:rPr>
              <a:t>M6 — M12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00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AEFD8"/>
                </a:solidFill>
                <a:latin typeface="Playfair Display"/>
              </a:rPr>
              <a:t>Premium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84048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Razorpay subscription. AI sommelier chat, advanced engine, no banners. ₹199/mo or ₹1,499/yr.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0A1810"/>
          </a:solidFill>
          <a:ln w="6350">
            <a:solidFill>
              <a:srgbClr val="1FB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24688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FB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/>
            <a:r>
              <a:rPr b="1" sz="1000">
                <a:solidFill>
                  <a:srgbClr val="252122"/>
                </a:solidFill>
                <a:latin typeface="Montserrat"/>
              </a:rPr>
              <a:t>M12+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200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AEFD8"/>
                </a:solidFill>
                <a:latin typeface="Playfair Display"/>
              </a:rPr>
              <a:t>B2B brand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84048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Sula, Grover, Amrut, Bira pay for cohort intel + featured surfacing. ₹50K–2L/quarter per partner.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FAEFD8"/>
                </a:solidFill>
                <a:latin typeface="Playfair Display"/>
              </a:rPr>
              <a:t>Free to use. Three revenue lines unlocked at different scale tiers. No paywall friction at acquisition.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MONETISATION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93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252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BRAND PARTNER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AEFD8"/>
                </a:solidFill>
                <a:latin typeface="Playfair Display"/>
              </a:rPr>
              <a:t>No money.
Just 30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Soft cross-promotion on your channels. We give you featured surfacing, push broadcasts on new releases, and a quarterly anonymized cohort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•  One Instagram post or newsletter mention per quarter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•  Optional 30-min tasting-team call to refine pairing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•  Optional co-branded D2C 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INVESTOR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AEFD8"/>
                </a:solidFill>
                <a:latin typeface="Playfair Display"/>
              </a:rPr>
              <a:t>₹50L.
18 months.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AEFD8"/>
                </a:solidFill>
                <a:latin typeface="Montserrat"/>
              </a:rPr>
              <a:t>Pre-seed runway to 50K MAU + first paid tier launch. Capital deployed against: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•  Photography pipeline (₹5L) — 40 bottle + 60 dish hero photos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66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•  BD lead (₹15L/yr) — brand partnerships, influencer seeding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77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•  Performance marketing (₹20L) — Meta + Google, Tier-1 metro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989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AEFD8"/>
                </a:solidFill>
                <a:latin typeface="Montserrat"/>
              </a:rPr>
              <a:t>•  Premium tier engineering + AI sommelier (founder-driven)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TWO ASKS · ONE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D9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93003C"/>
                </a:solidFill>
                <a:latin typeface="Montserrat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52122"/>
                </a:solidFill>
                <a:latin typeface="Playfair Display"/>
              </a:rPr>
              <a:t>India is finally drinking wine.
We are the answer to "but what?"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45720" cy="1828800"/>
          </a:xfrm>
          <a:prstGeom prst="rect">
            <a:avLst/>
          </a:prstGeom>
          <a:solidFill>
            <a:srgbClr val="D9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252122"/>
                </a:solidFill>
                <a:latin typeface="Playfair Display"/>
              </a:rPr>
              <a:t>Indian wine consumption tripled in the last decade. Tier-1 metros lead, but Tier-2 cities are growing faster. The bottleneck for every new drinker is the same: they don't know what to buy or what to drink it with. WineBro is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2122"/>
                </a:solidFill>
                <a:latin typeface="Montserrat"/>
              </a:rPr>
              <a:t>WHY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2122"/>
                </a:solidFill>
                <a:latin typeface="Montserrat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AEFD8"/>
                </a:solidFill>
                <a:latin typeface="Montserrat"/>
              </a:rPr>
              <a:t>LET'S POUR SOMETHING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200" b="1" i="0">
                <a:solidFill>
                  <a:srgbClr val="FAEFD8"/>
                </a:solidFill>
                <a:latin typeface="Playfair Display"/>
              </a:rPr>
              <a:t>Your Bro for
every bottle.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AEFD8"/>
                </a:solidFill>
                <a:latin typeface="Playfair Display"/>
              </a:rPr>
              <a:t>India's first homegrown wine pairing app — built for biryani, not Bordeaux.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EFD8"/>
                </a:solidFill>
                <a:latin typeface="Montserrat"/>
              </a:rPr>
              <a:t>App ·  winebro.web.app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66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EFD8"/>
                </a:solidFill>
                <a:latin typeface="Montserrat"/>
              </a:rPr>
              <a:t>BD + investor ·  [your email]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EFD8"/>
                </a:solidFill>
                <a:latin typeface="Montserrat"/>
              </a:rPr>
              <a:t>Phone ·  [your number]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DRINK RESPONSIBLY · 21+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AEFD8"/>
                </a:solidFill>
                <a:latin typeface="Montserrat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